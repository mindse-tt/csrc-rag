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548000"/>
          </a:xfrm>
          <a:prstGeom prst="rect">
            <a:avLst/>
          </a:prstGeom>
          <a:solidFill>
            <a:srgbClr val="16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8820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KETCH：知识增强 Transformer 的</a:t>
            </a:r>
            <a:br/>
            <a:r>
              <a:t>社交媒体自杀意念检测方法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080000"/>
            <a:ext cx="72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9E2EF"/>
                </a:solidFill>
                <a:latin typeface="Microsoft YaHei"/>
              </a:rPr>
              <a:t>Information Systems Research,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944000"/>
            <a:ext cx="648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62F58"/>
                </a:solidFill>
                <a:latin typeface="Microsoft YaHei"/>
              </a:rPr>
              <a:t>一句话概括：</a:t>
            </a:r>
            <a:br/>
            <a:r>
              <a:t>让电脑更早地从社交媒体文字里，看出一个人是不是可能出现了“自杀意念”，从而尽早提醒和干预。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0" y="1908000"/>
            <a:ext cx="3744000" cy="22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45F70"/>
                </a:solidFill>
                <a:latin typeface="Microsoft YaHei"/>
              </a:rPr>
              <a:t>关键词</a:t>
            </a:r>
            <a:br/>
            <a:r>
              <a:t>社交媒体</a:t>
            </a:r>
            <a:br/>
            <a:r>
              <a:t>自杀意念检测</a:t>
            </a:r>
            <a:br/>
            <a:r>
              <a:t>知识增强</a:t>
            </a:r>
            <a:br/>
            <a:r>
              <a:t>Transformer</a:t>
            </a:r>
            <a:br/>
            <a:r>
              <a:t>早期预警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20000"/>
          </a:xfrm>
          <a:prstGeom prst="rect">
            <a:avLst/>
          </a:prstGeom>
          <a:solidFill>
            <a:srgbClr val="16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72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1. 为什么这个问题重要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8000" y="162000"/>
            <a:ext cx="414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E0E7F2"/>
                </a:solidFill>
                <a:latin typeface="Microsoft YaHei"/>
              </a:rPr>
              <a:t>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000" y="1080000"/>
            <a:ext cx="5364000" cy="4248000"/>
          </a:xfrm>
          <a:prstGeom prst="roundRect">
            <a:avLst/>
          </a:prstGeom>
          <a:solidFill>
            <a:srgbClr val="E7EFFB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1170000"/>
            <a:ext cx="5076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F58"/>
                </a:solidFill>
                <a:latin typeface="Microsoft YaHei"/>
              </a:rPr>
              <a:t>现实痛点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476000"/>
            <a:ext cx="5076000" cy="3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很多真正有危险的人不会主动去找医生、咨询师或家人求助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但他们可能会在微博、Reddit 等平台发出痛苦和绝望表达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社交媒体因此可以成为“早期预警窗口”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03999" y="1080000"/>
            <a:ext cx="5796000" cy="4248000"/>
          </a:xfrm>
          <a:prstGeom prst="roundRect">
            <a:avLst/>
          </a:prstGeom>
          <a:solidFill>
            <a:srgbClr val="E6F5F2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7999" y="1170000"/>
            <a:ext cx="5508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68882"/>
                </a:solidFill>
                <a:latin typeface="Microsoft YaHei"/>
              </a:rPr>
              <a:t>为什么需要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7999" y="1476000"/>
            <a:ext cx="5508000" cy="3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人工盯帖不现实：帖子太多、更新太快、语言表达很隐晦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目标不是替代医生，而是更早发现风险、辅助专业人员介入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论文最终目标：从“文本分类”走向“检测 -&gt; 预警 -&gt; 干预”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20000"/>
          </a:xfrm>
          <a:prstGeom prst="rect">
            <a:avLst/>
          </a:prstGeom>
          <a:solidFill>
            <a:srgbClr val="16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72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2. 以前的方法难在哪里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8000" y="162000"/>
            <a:ext cx="414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E0E7F2"/>
                </a:solidFill>
                <a:latin typeface="Microsoft YaHei"/>
              </a:rPr>
              <a:t>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1116000"/>
            <a:ext cx="5328000" cy="3960000"/>
          </a:xfrm>
          <a:prstGeom prst="roundRect">
            <a:avLst/>
          </a:prstGeom>
          <a:solidFill>
            <a:srgbClr val="FAEFE3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1206000"/>
            <a:ext cx="504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07837"/>
                </a:solidFill>
                <a:latin typeface="Microsoft YaHei"/>
              </a:rPr>
              <a:t>难点一：很多模型只会“看字面”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512000"/>
            <a:ext cx="5040000" cy="34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帖子里出现“死”“结束”“离开”就容易被判成高风险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但现实里不是所有带这些词的句子都在表达自杀意念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例子：'疼死我了'、'累死了' 往往不是自杀风险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1116000"/>
            <a:ext cx="5508000" cy="3960000"/>
          </a:xfrm>
          <a:prstGeom prst="roundRect">
            <a:avLst/>
          </a:prstGeom>
          <a:solidFill>
            <a:srgbClr val="E7EFFB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4000" y="1206000"/>
            <a:ext cx="522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F58"/>
                </a:solidFill>
                <a:latin typeface="Microsoft YaHei"/>
              </a:rPr>
              <a:t>难点二：只靠统计规律，不懂领域知识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4000" y="1512000"/>
            <a:ext cx="5220000" cy="34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有些危险表达并不会直接出现“我想死”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例子：'我撑不下去了'、'我也会走上你的路'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普通模型不一定能抓住这种含蓄但高风险的表达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436000"/>
            <a:ext cx="108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62F58"/>
                </a:solidFill>
                <a:latin typeface="Microsoft YaHei"/>
              </a:rPr>
              <a:t>所以作者的核心想法是：把“专业词典知识” + “上下文理解能力”结合起来。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20000"/>
          </a:xfrm>
          <a:prstGeom prst="rect">
            <a:avLst/>
          </a:prstGeom>
          <a:solidFill>
            <a:srgbClr val="16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72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3. KETCH 的核心想法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8000" y="162000"/>
            <a:ext cx="414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E0E7F2"/>
                </a:solidFill>
                <a:latin typeface="Microsoft YaHei"/>
              </a:rPr>
              <a:t>Core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936000"/>
            <a:ext cx="111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62F58"/>
                </a:solidFill>
                <a:latin typeface="Microsoft YaHei"/>
              </a:rPr>
              <a:t>可以把 KETCH 理解成一个有“两只眼睛”的模型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6000" y="1800000"/>
            <a:ext cx="4608000" cy="2700000"/>
          </a:xfrm>
          <a:prstGeom prst="roundRect">
            <a:avLst/>
          </a:prstGeom>
          <a:solidFill>
            <a:srgbClr val="E7EFFB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1890000"/>
            <a:ext cx="432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F58"/>
                </a:solidFill>
                <a:latin typeface="Microsoft YaHei"/>
              </a:rPr>
              <a:t>第一只眼睛：看专业词典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196000"/>
            <a:ext cx="4320000" cy="22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作者专门构建了“自杀意念相关表达词典”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词典里不是普通情感词，而是和自杀风险更相关的词和表达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52000" y="1800000"/>
            <a:ext cx="4608000" cy="2700000"/>
          </a:xfrm>
          <a:prstGeom prst="roundRect">
            <a:avLst/>
          </a:prstGeom>
          <a:solidFill>
            <a:srgbClr val="E6F5F2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6000" y="1890000"/>
            <a:ext cx="432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68882"/>
                </a:solidFill>
                <a:latin typeface="Microsoft YaHei"/>
              </a:rPr>
              <a:t>第二只眼睛：看上下文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6000" y="2196000"/>
            <a:ext cx="4320000" cy="22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不只是看某个词是否出现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还要看这个词在整句话里重不重要、到底是什么意思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4860000"/>
            <a:ext cx="10404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262B33"/>
                </a:solidFill>
                <a:latin typeface="Microsoft YaHei"/>
              </a:rPr>
              <a:t>它不是简单地问“这句话里有没有危险词”，</a:t>
            </a:r>
            <a:br/>
            <a:r>
              <a:t>而是在问“哪些词最重要，它们和自杀风险词典有多像，它们在当前语境下是不是危险信号”。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20000"/>
          </a:xfrm>
          <a:prstGeom prst="rect">
            <a:avLst/>
          </a:prstGeom>
          <a:solidFill>
            <a:srgbClr val="16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72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4. 模型流程怎么走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8000" y="162000"/>
            <a:ext cx="414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E0E7F2"/>
                </a:solidFill>
                <a:latin typeface="Microsoft YaHe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0000"/>
            <a:ext cx="360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>
                <a:solidFill>
                  <a:srgbClr val="262B33"/>
                </a:solidFill>
                <a:latin typeface="Microsoft YaHei"/>
              </a:rPr>
              <a:t>1. 文本预处理</a:t>
            </a:r>
          </a:p>
          <a:p>
            <a:pPr algn="l">
              <a:spcAft>
                <a:spcPts val="700"/>
              </a:spcAft>
            </a:pPr>
            <a:r>
              <a:rPr sz="2000" b="0">
                <a:solidFill>
                  <a:srgbClr val="262B33"/>
                </a:solidFill>
                <a:latin typeface="Microsoft YaHei"/>
              </a:rPr>
              <a:t>2. 表示精炼（RoBERTa 微调）</a:t>
            </a:r>
          </a:p>
          <a:p>
            <a:pPr algn="l">
              <a:spcAft>
                <a:spcPts val="700"/>
              </a:spcAft>
            </a:pPr>
            <a:r>
              <a:rPr sz="2000" b="0">
                <a:solidFill>
                  <a:srgbClr val="262B33"/>
                </a:solidFill>
                <a:latin typeface="Microsoft YaHei"/>
              </a:rPr>
              <a:t>3. 表示增强（词典相似度 + 注意力）</a:t>
            </a:r>
          </a:p>
          <a:p>
            <a:pPr algn="l">
              <a:spcAft>
                <a:spcPts val="700"/>
              </a:spcAft>
            </a:pPr>
            <a:r>
              <a:rPr sz="2000" b="0">
                <a:solidFill>
                  <a:srgbClr val="262B33"/>
                </a:solidFill>
                <a:latin typeface="Microsoft YaHei"/>
              </a:rPr>
              <a:t>4. 分类输出</a:t>
            </a:r>
          </a:p>
        </p:txBody>
      </p:sp>
      <p:pic>
        <p:nvPicPr>
          <p:cNvPr id="6" name="Picture 5" descr="figure2_ketch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0" y="1080000"/>
            <a:ext cx="7272000" cy="32687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" y="3816000"/>
            <a:ext cx="11160000" cy="11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45F70"/>
                </a:solidFill>
                <a:latin typeface="Microsoft YaHei"/>
              </a:rPr>
              <a:t>最关键的是第 3 步：模型不是只看有没有危险词，而是综合“词和词典有多像”以及“这个词在句子里有多重要”。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5112000"/>
            <a:ext cx="72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45F70"/>
                </a:solidFill>
                <a:latin typeface="Microsoft YaHei"/>
              </a:rPr>
              <a:t>图：KETCH 总体框架（原论文 Figure 2）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20000"/>
          </a:xfrm>
          <a:prstGeom prst="rect">
            <a:avLst/>
          </a:prstGeom>
          <a:solidFill>
            <a:srgbClr val="16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72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5. 数据和词典从哪里来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8000" y="162000"/>
            <a:ext cx="414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E0E7F2"/>
                </a:solidFill>
                <a:latin typeface="Microsoft YaHei"/>
              </a:rPr>
              <a:t>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000" y="972000"/>
            <a:ext cx="5220000" cy="3060000"/>
          </a:xfrm>
          <a:prstGeom prst="roundRect">
            <a:avLst/>
          </a:prstGeom>
          <a:solidFill>
            <a:srgbClr val="E7EFFB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1062000"/>
            <a:ext cx="4932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F58"/>
                </a:solidFill>
                <a:latin typeface="Microsoft YaHei"/>
              </a:rPr>
              <a:t>数据来源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368000"/>
            <a:ext cx="4932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中文：新浪微博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英文：Reddit SuicideWatch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微博规模较大：29,388 个用户，104,219 条帖子，清洗后 99,030 条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专家参与标注哪些帖子表达了自杀意念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0" y="4176000"/>
            <a:ext cx="5220000" cy="1548000"/>
          </a:xfrm>
          <a:prstGeom prst="roundRect">
            <a:avLst/>
          </a:prstGeom>
          <a:solidFill>
            <a:srgbClr val="FAEFE3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4266000"/>
            <a:ext cx="4932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07837"/>
                </a:solidFill>
                <a:latin typeface="Microsoft YaHei"/>
              </a:rPr>
              <a:t>词典构建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4572000"/>
            <a:ext cx="493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从 4,600 多条微博中抽取 seed terms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多轮专家筛选，最后形成 320 个中文 SI 词条</a:t>
            </a:r>
          </a:p>
        </p:txBody>
      </p:sp>
      <p:pic>
        <p:nvPicPr>
          <p:cNvPr id="11" name="Picture 10" descr="figurec2_lexic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000" y="1080000"/>
            <a:ext cx="5724000" cy="23253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32000" y="4392000"/>
            <a:ext cx="5724000" cy="1007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45F70"/>
                </a:solidFill>
                <a:latin typeface="Microsoft YaHei"/>
              </a:rPr>
              <a:t>图：词典词项在帖子中的分布。大多数帖子只包含少量词典词项，说明仅靠关键词命中并不够，还要结合上下文。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20000"/>
          </a:xfrm>
          <a:prstGeom prst="rect">
            <a:avLst/>
          </a:prstGeom>
          <a:solidFill>
            <a:srgbClr val="16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72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6. 结果怎么样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8000" y="162000"/>
            <a:ext cx="414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E0E7F2"/>
                </a:solidFill>
                <a:latin typeface="Microsoft YaHe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07999"/>
            <a:ext cx="111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62F58"/>
                </a:solidFill>
                <a:latin typeface="Microsoft YaHei"/>
              </a:rPr>
              <a:t>关键结果：KETCH 在中文微博、英文 Reddit、用户级任务上都优于常见基线。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512000"/>
          <a:ext cx="612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00"/>
                <a:gridCol w="1224000"/>
                <a:gridCol w="1224000"/>
                <a:gridCol w="1224000"/>
                <a:gridCol w="1224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任务/模型</a:t>
                      </a:r>
                    </a:p>
                  </a:txBody>
                  <a:tcPr>
                    <a:solidFill>
                      <a:srgbClr val="162F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Precision</a:t>
                      </a:r>
                    </a:p>
                  </a:txBody>
                  <a:tcPr>
                    <a:solidFill>
                      <a:srgbClr val="162F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Recall</a:t>
                      </a:r>
                    </a:p>
                  </a:txBody>
                  <a:tcPr>
                    <a:solidFill>
                      <a:srgbClr val="162F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F1</a:t>
                      </a:r>
                    </a:p>
                  </a:txBody>
                  <a:tcPr>
                    <a:solidFill>
                      <a:srgbClr val="162F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Accuracy</a:t>
                      </a:r>
                    </a:p>
                  </a:txBody>
                  <a:tcPr>
                    <a:solidFill>
                      <a:srgbClr val="162F58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B33"/>
                          </a:solidFill>
                          <a:latin typeface="Microsoft YaHei"/>
                        </a:rPr>
                        <a:t>微博 RoBERTa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B33"/>
                          </a:solidFill>
                          <a:latin typeface="Microsoft YaHei"/>
                        </a:rPr>
                        <a:t>0.747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B33"/>
                          </a:solidFill>
                          <a:latin typeface="Microsoft YaHei"/>
                        </a:rPr>
                        <a:t>0.674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B33"/>
                          </a:solidFill>
                          <a:latin typeface="Microsoft YaHei"/>
                        </a:rPr>
                        <a:t>0.705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B33"/>
                          </a:solidFill>
                          <a:latin typeface="Microsoft YaHei"/>
                        </a:rPr>
                        <a:t>0.906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B33"/>
                          </a:solidFill>
                          <a:latin typeface="Microsoft YaHei"/>
                        </a:rPr>
                        <a:t>微博 KETCH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B33"/>
                          </a:solidFill>
                          <a:latin typeface="Microsoft YaHei"/>
                        </a:rPr>
                        <a:t>0.826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B33"/>
                          </a:solidFill>
                          <a:latin typeface="Microsoft YaHei"/>
                        </a:rPr>
                        <a:t>0.881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B33"/>
                          </a:solidFill>
                          <a:latin typeface="Microsoft YaHei"/>
                        </a:rPr>
                        <a:t>0.868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B33"/>
                          </a:solidFill>
                          <a:latin typeface="Microsoft YaHei"/>
                        </a:rPr>
                        <a:t>0.935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B33"/>
                          </a:solidFill>
                          <a:latin typeface="Microsoft YaHei"/>
                        </a:rPr>
                        <a:t>Reddit 用户级 KETCH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B33"/>
                          </a:solidFill>
                          <a:latin typeface="Microsoft YaHei"/>
                        </a:rPr>
                        <a:t>0.923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B33"/>
                          </a:solidFill>
                          <a:latin typeface="Microsoft YaHei"/>
                        </a:rPr>
                        <a:t>0.955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B33"/>
                          </a:solidFill>
                          <a:latin typeface="Microsoft YaHei"/>
                        </a:rPr>
                        <a:t>0.939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B33"/>
                          </a:solidFill>
                          <a:latin typeface="Microsoft YaHei"/>
                        </a:rPr>
                        <a:t>0.912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igure3_rep_enhan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000" y="1440000"/>
            <a:ext cx="4680000" cy="30200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8000" y="4932000"/>
            <a:ext cx="468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45F70"/>
                </a:solidFill>
                <a:latin typeface="Microsoft YaHei"/>
              </a:rPr>
              <a:t>图：增强表示学习流程（原论文 Figure 3）。最关键的提升来自“词典知识 + 上下文”的联合建模。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20000"/>
          </a:xfrm>
          <a:prstGeom prst="rect">
            <a:avLst/>
          </a:prstGeom>
          <a:solidFill>
            <a:srgbClr val="16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72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7. 这篇论文为什么有现实意义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8000" y="162000"/>
            <a:ext cx="414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E0E7F2"/>
                </a:solidFill>
                <a:latin typeface="Microsoft YaHei"/>
              </a:rPr>
              <a:t>Practice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1080000"/>
            <a:ext cx="5760000" cy="3528000"/>
          </a:xfrm>
          <a:prstGeom prst="roundRect">
            <a:avLst/>
          </a:prstGeom>
          <a:solidFill>
            <a:srgbClr val="E6F5F2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1170000"/>
            <a:ext cx="5472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68882"/>
                </a:solidFill>
                <a:latin typeface="Microsoft YaHei"/>
              </a:rPr>
              <a:t>它不只是实验室跑分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000" y="1476000"/>
            <a:ext cx="5472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作者做了一个实际场景尝试：模型先找出疑似高风险帖子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再由专业人员人工复核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确认后主动联系用户，尝试提供帮助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目标从“分类”走向“检测 -&gt; 预警 -&gt; 干预”</a:t>
            </a:r>
          </a:p>
        </p:txBody>
      </p:sp>
      <p:pic>
        <p:nvPicPr>
          <p:cNvPr id="8" name="Picture 7" descr="figured1_field_stud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000" y="1188000"/>
            <a:ext cx="3780000" cy="28953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8000" y="4176000"/>
            <a:ext cx="4320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45F70"/>
                </a:solidFill>
                <a:latin typeface="Microsoft YaHei"/>
              </a:rPr>
              <a:t>图：田野研究中的干预流程（原论文 Figure D.1）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896000"/>
            <a:ext cx="111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2F58"/>
                </a:solidFill>
                <a:latin typeface="Microsoft YaHei"/>
              </a:rPr>
              <a:t>所以这篇论文的价值，不只是“模型更准”，而是它证明了这个方向具有实际应用潜力。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20000"/>
          </a:xfrm>
          <a:prstGeom prst="rect">
            <a:avLst/>
          </a:prstGeom>
          <a:solidFill>
            <a:srgbClr val="16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72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8. 局限性和我的评价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8000" y="162000"/>
            <a:ext cx="414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E0E7F2"/>
                </a:solidFill>
                <a:latin typeface="Microsoft YaHei"/>
              </a:rPr>
              <a:t>Reflection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1080000"/>
            <a:ext cx="5328000" cy="3888000"/>
          </a:xfrm>
          <a:prstGeom prst="roundRect">
            <a:avLst/>
          </a:prstGeom>
          <a:solidFill>
            <a:srgbClr val="FAEFE3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1170000"/>
            <a:ext cx="504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07837"/>
                </a:solidFill>
                <a:latin typeface="Microsoft YaHei"/>
              </a:rPr>
              <a:t>论文局限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000" y="1476000"/>
            <a:ext cx="5040000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主要还是文本，没有做多模态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词典需要不断更新，社交媒体语言变化很快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田野研究更多证明“可行性”，不是严格临床因果结论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不同人群、不同平台上的公平性问题仍值得继续研究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1080000"/>
            <a:ext cx="5508000" cy="3888000"/>
          </a:xfrm>
          <a:prstGeom prst="roundRect">
            <a:avLst/>
          </a:prstGeom>
          <a:solidFill>
            <a:srgbClr val="E7EFFB"/>
          </a:solidFill>
          <a:ln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4000" y="1170000"/>
            <a:ext cx="522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F58"/>
                </a:solidFill>
                <a:latin typeface="Microsoft YaHei"/>
              </a:rPr>
              <a:t>我的评价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4000" y="1476000"/>
            <a:ext cx="5220000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它不是只换了一个大模型，而是认真解决了“领域知识怎么进模型”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数据、词典、实验和实际干预尝试都做得比较完整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262B33"/>
                </a:solidFill>
                <a:latin typeface="Microsoft YaHei"/>
              </a:rPr>
              <a:t>最值得记住的一点：高风险任务里，领域知识增强的 Transformer 确实有明显帮助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F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432000"/>
            <a:ext cx="108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9. 最后记住这 5 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4000" y="1440000"/>
            <a:ext cx="972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>
                <a:solidFill>
                  <a:srgbClr val="FFFFFF"/>
                </a:solidFill>
                <a:latin typeface="Microsoft YaHei"/>
              </a:rPr>
              <a:t>1. 这篇论文做的是“社交媒体自杀意念检测”</a:t>
            </a:r>
          </a:p>
          <a:p>
            <a:pPr algn="l">
              <a:spcAft>
                <a:spcPts val="700"/>
              </a:spcAft>
            </a:pPr>
            <a:r>
              <a:rPr sz="2000" b="0">
                <a:solidFill>
                  <a:srgbClr val="FFFFFF"/>
                </a:solidFill>
                <a:latin typeface="Microsoft YaHei"/>
              </a:rPr>
              <a:t>2. 它要解决的是：高风险人群不会主动求助，但会在网上表达痛苦</a:t>
            </a:r>
          </a:p>
          <a:p>
            <a:pPr algn="l">
              <a:spcAft>
                <a:spcPts val="700"/>
              </a:spcAft>
            </a:pPr>
            <a:r>
              <a:rPr sz="2000" b="0">
                <a:solidFill>
                  <a:srgbClr val="FFFFFF"/>
                </a:solidFill>
                <a:latin typeface="Microsoft YaHei"/>
              </a:rPr>
              <a:t>3. KETCH 的核心思想是“词典知识 + 上下文理解”一起用</a:t>
            </a:r>
          </a:p>
          <a:p>
            <a:pPr algn="l">
              <a:spcAft>
                <a:spcPts val="700"/>
              </a:spcAft>
            </a:pPr>
            <a:r>
              <a:rPr sz="2000" b="0">
                <a:solidFill>
                  <a:srgbClr val="FFFFFF"/>
                </a:solidFill>
                <a:latin typeface="Microsoft YaHei"/>
              </a:rPr>
              <a:t>4. 它比很多常见深度学习模型效果更好，而且有跨语言与用户级泛化</a:t>
            </a:r>
          </a:p>
          <a:p>
            <a:pPr algn="l">
              <a:spcAft>
                <a:spcPts val="700"/>
              </a:spcAft>
            </a:pPr>
            <a:r>
              <a:rPr sz="2000" b="0">
                <a:solidFill>
                  <a:srgbClr val="FFFFFF"/>
                </a:solidFill>
                <a:latin typeface="Microsoft YaHei"/>
              </a:rPr>
              <a:t>5. 它的目标不是替代医生，而是帮助更早发现风险、辅助干预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68000" y="5400000"/>
            <a:ext cx="57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FF4FF"/>
                </a:solidFill>
                <a:latin typeface="Microsoft YaHei"/>
              </a:rPr>
              <a:t>谢谢大家  | 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