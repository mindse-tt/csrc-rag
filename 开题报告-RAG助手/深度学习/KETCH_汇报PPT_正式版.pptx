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80" y="16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微软雅黑"/>
              </a:rPr>
              <a:t>厦门大学  管理学院  论文汇报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72F66"/>
                </a:solidFill>
                <a:latin typeface="Times New Roman"/>
              </a:rPr>
              <a:t>KETCH: A Knowledge-Enhanced Transformer-Based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72F66"/>
                </a:solidFill>
                <a:latin typeface="Times New Roman"/>
              </a:rPr>
              <a:t>to Suicidal Ideation Detection from Social Media 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F5CA8"/>
                </a:solidFill>
                <a:latin typeface="微软雅黑"/>
              </a:rPr>
              <a:t>基于知识增强 Transformer 的社交媒体自杀意念检测方法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3886200"/>
            <a:ext cx="6675120" cy="36576"/>
          </a:xfrm>
          <a:prstGeom prst="rect">
            <a:avLst/>
          </a:prstGeom>
          <a:solidFill>
            <a:srgbClr val="B8D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微软雅黑"/>
              </a:rPr>
              <a:t>原文作者：Dongsong Zhang et 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微软雅黑"/>
              </a:rPr>
              <a:t>期刊：Information Systems Research,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微软雅黑"/>
              </a:rPr>
              <a:t>汇报人：[你的姓名]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微软雅黑"/>
              </a:rPr>
              <a:t>日期：2026年3月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Times New Roman"/>
              </a:rPr>
              <a:t>Xiamen University · School of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CONTENTS  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94360" cy="658368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F66"/>
                </a:solidFill>
                <a:latin typeface="微软雅黑"/>
              </a:rPr>
              <a:t>研究背景与问题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75564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微软雅黑"/>
              </a:rPr>
              <a:t>自杀意念检测的重要性、现有方法的 4 个 Gap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7008" y="1371600"/>
            <a:ext cx="36576" cy="658368"/>
          </a:xfrm>
          <a:prstGeom prst="rect">
            <a:avLst/>
          </a:prstGeom>
          <a:solidFill>
            <a:srgbClr val="B8D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594360" cy="658368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F66"/>
                </a:solidFill>
                <a:latin typeface="微软雅黑"/>
              </a:rPr>
              <a:t>KETCH 方法设计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微软雅黑"/>
              </a:rPr>
              <a:t>词典构建、模型架构、表示精炼与增强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7008" y="2377440"/>
            <a:ext cx="36576" cy="658368"/>
          </a:xfrm>
          <a:prstGeom prst="rect">
            <a:avLst/>
          </a:prstGeom>
          <a:solidFill>
            <a:srgbClr val="B8D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383280"/>
            <a:ext cx="594360" cy="658368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F66"/>
                </a:solidFill>
                <a:latin typeface="微软雅黑"/>
              </a:rPr>
              <a:t>实验结果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76732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微软雅黑"/>
              </a:rPr>
              <a:t>消融实验、基线对比、跨任务泛化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7008" y="3383280"/>
            <a:ext cx="36576" cy="658368"/>
          </a:xfrm>
          <a:prstGeom prst="rect">
            <a:avLst/>
          </a:prstGeom>
          <a:solidFill>
            <a:srgbClr val="B8D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389120"/>
            <a:ext cx="594360" cy="658368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F66"/>
                </a:solidFill>
                <a:latin typeface="微软雅黑"/>
              </a:rPr>
              <a:t>应用与影响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731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微软雅黑"/>
              </a:rPr>
              <a:t>田野研究验证、社会价值估算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07008" y="4389120"/>
            <a:ext cx="36576" cy="658368"/>
          </a:xfrm>
          <a:prstGeom prst="rect">
            <a:avLst/>
          </a:prstGeom>
          <a:solidFill>
            <a:srgbClr val="B8D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5394960"/>
            <a:ext cx="594360" cy="658368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394960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F66"/>
                </a:solidFill>
                <a:latin typeface="微软雅黑"/>
              </a:rPr>
              <a:t>总结与展望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77900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微软雅黑"/>
              </a:rPr>
              <a:t>贡献、局限性与未来方向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07008" y="5394960"/>
            <a:ext cx="36576" cy="658368"/>
          </a:xfrm>
          <a:prstGeom prst="rect">
            <a:avLst/>
          </a:prstGeom>
          <a:solidFill>
            <a:srgbClr val="B8D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16736"/>
            <a:ext cx="12188952" cy="4206240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23560" y="1993392"/>
            <a:ext cx="960120" cy="86868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23560" y="1993392"/>
            <a:ext cx="960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01752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/>
              </a:rPr>
              <a:t>研究背景与问题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Times New Roman"/>
              </a:rPr>
              <a:t>Research Background &amp; 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669280"/>
            <a:ext cx="12188952" cy="54864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47472"/>
            <a:ext cx="73152" cy="402336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658368"/>
            <a:ext cx="12115800" cy="54864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F66"/>
                </a:solidFill>
                <a:latin typeface="微软雅黑"/>
              </a:rPr>
              <a:t>研究背景 — 为什么这件事很重要？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0352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09728" cy="1371600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72F66"/>
                </a:solidFill>
                <a:latin typeface="微软雅黑"/>
              </a:rPr>
              <a:t>70万+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60"/>
                </a:solidFill>
                <a:latin typeface="微软雅黑"/>
              </a:rPr>
              <a:t>全球每年自杀死亡人数（WHO）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30352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109728" cy="1371600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1887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72F66"/>
                </a:solidFill>
                <a:latin typeface="微软雅黑"/>
              </a:rPr>
              <a:t>第4大死因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60"/>
                </a:solidFill>
                <a:latin typeface="微软雅黑"/>
              </a:rPr>
              <a:t>15-29 岁人群（WHO）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530352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2743200"/>
            <a:ext cx="109728" cy="1371600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8346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72F66"/>
                </a:solidFill>
                <a:latin typeface="微软雅黑"/>
              </a:rPr>
              <a:t>11.8%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29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60"/>
                </a:solidFill>
                <a:latin typeface="微软雅黑"/>
              </a:rPr>
              <a:t>美国 18-25 岁青年曾有严重自杀意念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743200"/>
            <a:ext cx="530352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2743200"/>
            <a:ext cx="109728" cy="1371600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28346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72F66"/>
                </a:solidFill>
                <a:latin typeface="微软雅黑"/>
              </a:rPr>
              <a:t>80%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429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60"/>
                </a:solidFill>
                <a:latin typeface="微软雅黑"/>
              </a:rPr>
              <a:t>死于自杀者，被询问时未报告自杀想法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2F66"/>
                </a:solidFill>
                <a:latin typeface="微软雅黑"/>
              </a:rPr>
              <a:t>自杀发展路径：自杀意念  →  自杀计划  →  自杀尝试  →  自杀完成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892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60"/>
                </a:solidFill>
                <a:latin typeface="微软雅黑"/>
              </a:rPr>
              <a:t>自杀意念是最早出现的风险信号，也是最可干预的时间窗口。社交媒体为主动检测提供了可能。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47472"/>
            <a:ext cx="73152" cy="402336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658368"/>
            <a:ext cx="12115800" cy="54864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F66"/>
                </a:solidFill>
                <a:latin typeface="微软雅黑"/>
              </a:rPr>
              <a:t>现有方法的 4 个核心缺口（Gap）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39496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394960" cy="457200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Gap 1  方法层面落后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微软雅黑"/>
              </a:rPr>
              <a:t>很多研究仍依赖传统机器学习或静态词向量，
无法充分捕捉文本上下文语义。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51560"/>
            <a:ext cx="539496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051560"/>
            <a:ext cx="5394960" cy="457200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0972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Gap 2  词典不够专用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微软雅黑"/>
              </a:rPr>
              <a:t>多数工作使用通用情感词典（LIWC / NRC），
并非自杀意念领域专用核心词典。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11879"/>
            <a:ext cx="539496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611879"/>
            <a:ext cx="5394960" cy="457200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657599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Gap 3  融合方式粗糙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60519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微软雅黑"/>
              </a:rPr>
              <a:t>已有词典整合仅做特征拼接，
未能将知识注入模型内部的表示学习过程。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611879"/>
            <a:ext cx="539496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611879"/>
            <a:ext cx="5394960" cy="457200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3657599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Gap 4  缺乏系统验证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160519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微软雅黑"/>
              </a:rPr>
              <a:t>大多数模型只在单一数据集上测试，
缺少跨语言、跨平台、跨任务的稳健性证明。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2F66"/>
                </a:solidFill>
                <a:latin typeface="微软雅黑"/>
              </a:rPr>
              <a:t>核心问题：如何将自杀意念领域知识，以模型级方式真正融入 Transformer？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16736"/>
            <a:ext cx="12188952" cy="4206240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23560" y="1993392"/>
            <a:ext cx="960120" cy="86868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23560" y="1993392"/>
            <a:ext cx="960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01752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/>
              </a:rPr>
              <a:t>KETCH 方法设计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0"/>
            <a:ext cx="12188952" cy="54864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Times New Roman"/>
              </a:rPr>
              <a:t>KETCH Model Design: Lexicon Construction &amp;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47472"/>
            <a:ext cx="73152" cy="402336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658368"/>
            <a:ext cx="12115800" cy="54864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F66"/>
                </a:solidFill>
                <a:latin typeface="微软雅黑"/>
              </a:rPr>
              <a:t>自杀意念词典构建（CSI Lexicon）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2286000"/>
            <a:ext cx="1920240" cy="146304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24231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收集语料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8803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4,600+ 条
微博帖子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8346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72F66"/>
                </a:solidFill>
                <a:latin typeface="微软雅黑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286000"/>
            <a:ext cx="1920240" cy="146304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24231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专家标注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8803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8位专家
≥3人一致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346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72F66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79" y="2286000"/>
            <a:ext cx="1920240" cy="146304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83479" y="24231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精炼筛选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79" y="28803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1,862 个
种子词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19" y="28346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72F66"/>
                </a:solidFill>
                <a:latin typeface="微软雅黑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199" y="2286000"/>
            <a:ext cx="1920240" cy="146304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199" y="24231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语义扩展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9" y="28803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word2vec
每词+4近邻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39" y="28346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72F66"/>
                </a:solidFill>
                <a:latin typeface="微软雅黑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46919" y="2286000"/>
            <a:ext cx="1920240" cy="1463040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46919" y="24231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剪枝压缩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19" y="28803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最终
320 条词条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3931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2F66"/>
                </a:solidFill>
                <a:latin typeface="微软雅黑"/>
              </a:rPr>
              <a:t>词典词条示例（共 320 条，涵盖直接表述与隐晦表达）：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434840"/>
            <a:ext cx="1463040" cy="411480"/>
          </a:xfrm>
          <a:prstGeom prst="rect">
            <a:avLst/>
          </a:prstGeom>
          <a:solidFill>
            <a:srgbClr val="B8D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44348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F66"/>
                </a:solidFill>
                <a:latin typeface="微软雅黑"/>
              </a:rPr>
              <a:t>直接表述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4348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微软雅黑"/>
              </a:rPr>
              <a:t>「自杀」「想死」「一了百了」「遗书」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983479"/>
            <a:ext cx="1463040" cy="411480"/>
          </a:xfrm>
          <a:prstGeom prst="rect">
            <a:avLst/>
          </a:prstGeom>
          <a:solidFill>
            <a:srgbClr val="B8D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0040" y="4983479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F66"/>
                </a:solidFill>
                <a:latin typeface="微软雅黑"/>
              </a:rPr>
              <a:t>绝望/痛苦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4983479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微软雅黑"/>
              </a:rPr>
              <a:t>「活不下去」「生无可恋」「生活没有意义」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532120"/>
            <a:ext cx="1463040" cy="411480"/>
          </a:xfrm>
          <a:prstGeom prst="rect">
            <a:avLst/>
          </a:prstGeom>
          <a:solidFill>
            <a:srgbClr val="B8D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" y="55321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F66"/>
                </a:solidFill>
                <a:latin typeface="微软雅黑"/>
              </a:rPr>
              <a:t>隐晦表达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5321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微软雅黑"/>
              </a:rPr>
              <a:t>「挺不了太长时间了」「有一天我也会走上你的路」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62362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06C00"/>
                </a:solidFill>
                <a:latin typeface="微软雅黑"/>
              </a:rPr>
              <a:t>关键价值：专业领域专用词典，而非通用情感词典，且覆盖直接与隐晦两类表达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47472"/>
            <a:ext cx="73152" cy="402336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658368"/>
            <a:ext cx="12115800" cy="54864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F66"/>
                </a:solidFill>
                <a:latin typeface="微软雅黑"/>
              </a:rPr>
              <a:t>KETCH 模型架构总览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ure2_ketch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22283"/>
            <a:ext cx="685800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005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F66"/>
                </a:solidFill>
                <a:latin typeface="微软雅黑"/>
              </a:rPr>
              <a:t>四大组成模块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554480"/>
            <a:ext cx="457200" cy="100584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1554480"/>
            <a:ext cx="457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554480"/>
            <a:ext cx="402336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600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2F66"/>
                </a:solidFill>
                <a:latin typeface="微软雅黑"/>
              </a:rPr>
              <a:t>文本预处理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993392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微软雅黑"/>
              </a:rPr>
              <a:t>中文分词 / 英文tokenization
截断/填充到统一长度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2788920"/>
            <a:ext cx="457200" cy="100584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0" y="2788920"/>
            <a:ext cx="457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788920"/>
            <a:ext cx="402336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28346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2F66"/>
                </a:solidFill>
                <a:latin typeface="微软雅黑"/>
              </a:rPr>
              <a:t>表示精炼（RR）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227832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微软雅黑"/>
              </a:rPr>
              <a:t>RoBERTa + 领域数据微调
让通用表示贴近 SID 任务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4023360"/>
            <a:ext cx="457200" cy="100584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0" y="4023360"/>
            <a:ext cx="457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4023360"/>
            <a:ext cx="402336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79" y="4069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2F66"/>
                </a:solidFill>
                <a:latin typeface="微软雅黑"/>
              </a:rPr>
              <a:t>表示增强（RE）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462272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微软雅黑"/>
              </a:rPr>
              <a:t>核心创新：词典知识×上下文注意力
动态计算每个词的重要性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5257800"/>
            <a:ext cx="457200" cy="100584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0" y="5257800"/>
            <a:ext cx="457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5257800"/>
            <a:ext cx="402336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79" y="5303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2F66"/>
                </a:solidFill>
                <a:latin typeface="微软雅黑"/>
              </a:rPr>
              <a:t>分类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5696712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微软雅黑"/>
              </a:rPr>
              <a:t>加权帖子表示 → TPOT自动优化
输出 SI / 非 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47472"/>
            <a:ext cx="73152" cy="402336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658368"/>
            <a:ext cx="12115800" cy="54864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F66"/>
                </a:solidFill>
                <a:latin typeface="微软雅黑"/>
              </a:rPr>
              <a:t>KETCH 核心创新：表示增强（RE）机制详解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2F66"/>
                </a:solidFill>
                <a:latin typeface="微软雅黑"/>
              </a:rPr>
              <a:t>核心思路：一个词对自杀意念判断的重要性 = 词典相似度（领域知识） × 上下文注意力（语言理解）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3749039" cy="457200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5087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Step 1：上下文注意力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11680"/>
            <a:ext cx="3749039" cy="1920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084831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微软雅黑"/>
              </a:rPr>
              <a:t>从 RoBERTa 最后 4 层（q=4）
12 个 Attention Head 的权重
取平均，得到词在当前帖子
中的注意力分数 att(t, 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46888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F66"/>
                </a:solidFill>
                <a:latin typeface="微软雅黑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2" y="1508760"/>
            <a:ext cx="3749039" cy="457200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33672" y="15087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Step 2：词典相似度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3672" y="2011680"/>
            <a:ext cx="3749039" cy="1920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5112" y="2084831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微软雅黑"/>
              </a:rPr>
              <a:t>将词嵌入与词典中每个词条
做余弦相似度计算，取最大值
sim(t, L) = max_l cos(t, l)
反映词与自杀意念的语义相关性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2" y="246888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F66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3024" y="1508760"/>
            <a:ext cx="3749039" cy="457200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93024" y="15087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Step 3：融合 → 词重要性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93024" y="2011680"/>
            <a:ext cx="3749039" cy="1920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84464" y="2084831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微软雅黑"/>
              </a:rPr>
              <a:t>imp(t, p) = w × sim(t,L)
             + (1-w) × att(t,p)
最优权重 w = 0.6
（词典知识稍微更重要）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114800"/>
            <a:ext cx="11430000" cy="54864"/>
          </a:xfrm>
          <a:prstGeom prst="rect">
            <a:avLst/>
          </a:prstGeom>
          <a:solidFill>
            <a:srgbClr val="B8D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42519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2F66"/>
                </a:solidFill>
                <a:latin typeface="微软雅黑"/>
              </a:rPr>
              <a:t>Step 4：增强帖子表示   v'_p = (1/M) Σ imp(tᵢ, p) × v_tᵢ   （对帖子中所有词按重要性加权平均）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754880"/>
            <a:ext cx="1143000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4754880"/>
            <a:ext cx="91440" cy="1417320"/>
          </a:xfrm>
          <a:prstGeom prst="rect">
            <a:avLst/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4800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2F66"/>
                </a:solidFill>
                <a:latin typeface="微软雅黑"/>
              </a:rPr>
              <a:t>直觉理解：为什么这样设计优于简单词典匹配？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微软雅黑"/>
              </a:rPr>
              <a:t>• 含词典词「遗书」的帖子：sim 高 → imp 高 → 此词权重大 → 帖子表示偏 SI 方向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微软雅黑"/>
              </a:rPr>
              <a:t>• 不含词典词「生活真艰难，我真的挺不了太长时间了」：靠 att 捕捉高风险上下文，仍然正确识别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16736"/>
            <a:ext cx="12188952" cy="4206240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23560" y="1993392"/>
            <a:ext cx="960120" cy="86868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23560" y="1993392"/>
            <a:ext cx="960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01752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/>
              </a:rPr>
              <a:t>实验结果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0"/>
            <a:ext cx="12188952" cy="54864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Times New Roman"/>
              </a:rPr>
              <a:t>Experiments &amp;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47472"/>
            <a:ext cx="73152" cy="402336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658368"/>
            <a:ext cx="12115800" cy="54864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F66"/>
                </a:solidFill>
                <a:latin typeface="微软雅黑"/>
              </a:rPr>
              <a:t>消融实验：每个模块的贡献（Table 4）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2560320" cy="438912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05156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模型配置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051560"/>
            <a:ext cx="1371600" cy="438912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88920" y="1051560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Precision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051560"/>
            <a:ext cx="1371600" cy="438912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60520" y="1051560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Recall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32120" y="1051560"/>
            <a:ext cx="1371600" cy="438912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32120" y="1051560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1051560"/>
            <a:ext cx="1371600" cy="438912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03720" y="1051560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1051560"/>
            <a:ext cx="3749039" cy="438912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105156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说明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1490472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15819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RoBERTa（基线）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1490472"/>
            <a:ext cx="1371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34640" y="158191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0.747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1490472"/>
            <a:ext cx="1371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06240" y="158191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0.674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1490472"/>
            <a:ext cx="1371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77840" y="158191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0.705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03720" y="1490472"/>
            <a:ext cx="1371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49440" y="158191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0.906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1490472"/>
            <a:ext cx="3749039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0" y="1581912"/>
            <a:ext cx="3657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纯预训练模型，无领域优化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2148840"/>
            <a:ext cx="256032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2240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+ 领域微调（RR）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2148840"/>
            <a:ext cx="137160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34640" y="22402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0.753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2148840"/>
            <a:ext cx="137160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06240" y="22402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0.689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32120" y="2148840"/>
            <a:ext cx="137160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577840" y="22402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0.717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03720" y="2148840"/>
            <a:ext cx="137160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949440" y="22402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0.910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75320" y="2148840"/>
            <a:ext cx="3749039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21040" y="2240280"/>
            <a:ext cx="3657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领域微调，4项指标全面提升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2807208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320" y="289864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+ 数据平衡（SMOTE）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88920" y="2807208"/>
            <a:ext cx="1371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834640" y="289864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0.728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60520" y="2807208"/>
            <a:ext cx="1371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06240" y="289864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0.857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32120" y="2807208"/>
            <a:ext cx="1371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577840" y="289864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0.765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03720" y="2807208"/>
            <a:ext cx="1371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949440" y="289864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0.893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5320" y="2807208"/>
            <a:ext cx="3749039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21040" y="2898648"/>
            <a:ext cx="3657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Recall 大幅+0.168，少数类问题缓解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3465576"/>
            <a:ext cx="2560320" cy="62179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74320" y="3557016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F66"/>
                </a:solidFill>
                <a:latin typeface="微软雅黑"/>
              </a:rPr>
              <a:t>KETCH（+ RE）★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88920" y="3465576"/>
            <a:ext cx="1371600" cy="62179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834640" y="355701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F66"/>
                </a:solidFill>
                <a:latin typeface="微软雅黑"/>
              </a:rPr>
              <a:t>0.826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60520" y="3465576"/>
            <a:ext cx="1371600" cy="62179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206240" y="355701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F66"/>
                </a:solidFill>
                <a:latin typeface="微软雅黑"/>
              </a:rPr>
              <a:t>0.881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32120" y="3465576"/>
            <a:ext cx="1371600" cy="62179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577840" y="355701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F66"/>
                </a:solidFill>
                <a:latin typeface="微软雅黑"/>
              </a:rPr>
              <a:t>0.868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03720" y="3465576"/>
            <a:ext cx="1371600" cy="62179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949440" y="355701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F66"/>
                </a:solidFill>
                <a:latin typeface="微软雅黑"/>
              </a:rPr>
              <a:t>0.935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75320" y="3465576"/>
            <a:ext cx="3749039" cy="62179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21040" y="3557016"/>
            <a:ext cx="3657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F66"/>
                </a:solidFill>
                <a:latin typeface="微软雅黑"/>
              </a:rPr>
              <a:t>全面最优，统计显著 p&lt;0.001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4681728"/>
            <a:ext cx="11430000" cy="54864"/>
          </a:xfrm>
          <a:prstGeom prst="rect">
            <a:avLst/>
          </a:prstGeom>
          <a:solidFill>
            <a:srgbClr val="B8D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28600" y="48006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72F66"/>
                </a:solidFill>
                <a:latin typeface="微软雅黑"/>
              </a:rPr>
              <a:t>KETCH vs RoBERTa：F1 +0.163 ↑  ·  Recall +0.207 ↑  ·  Precision +0.079 ↑  ·  Accuracy +0.029 ↑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28600" y="52578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微软雅黑"/>
              </a:rPr>
              <a:t>每加一个模块，性能均有可观提升，证明各模块设计均有效。统计检验 Bonferroni 校正后所有比较 p &lt; 0.001。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47472"/>
            <a:ext cx="73152" cy="402336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658368"/>
            <a:ext cx="12115800" cy="54864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F66"/>
                </a:solidFill>
                <a:latin typeface="微软雅黑"/>
              </a:rPr>
              <a:t>与基线模型对比 + 权重参数敏感性分析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2F66"/>
                </a:solidFill>
                <a:latin typeface="微软雅黑"/>
              </a:rPr>
              <a:t>主要基线对比结果（Table 3）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2377440" cy="347472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463040"/>
            <a:ext cx="731520" cy="347472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0" y="146304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463040"/>
            <a:ext cx="2651760" cy="347472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4630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备注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10512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18562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CNN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1810512"/>
            <a:ext cx="731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97480" y="185623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0.457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810512"/>
            <a:ext cx="2651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29000" y="18562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340864"/>
            <a:ext cx="237744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23865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BiGRU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2340864"/>
            <a:ext cx="7315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97480" y="238658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0.671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340864"/>
            <a:ext cx="265176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29000" y="238658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871215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2916935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RoBERTa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2871215"/>
            <a:ext cx="731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697480" y="2916935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0.705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2871215"/>
            <a:ext cx="2651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29000" y="2916935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401568"/>
            <a:ext cx="237744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34472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DeepAtt（最强基线）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401568"/>
            <a:ext cx="7315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697480" y="344728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0.724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3401568"/>
            <a:ext cx="265176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29000" y="34472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93192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3977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Rule-based 词典匹配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3931920"/>
            <a:ext cx="731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697480" y="39776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0.345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80" y="3931920"/>
            <a:ext cx="2651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29000" y="3977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Recall 0.965, 但精度仅 0.210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462272"/>
            <a:ext cx="237744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0040" y="45079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2F66"/>
                </a:solidFill>
                <a:latin typeface="微软雅黑"/>
              </a:rPr>
              <a:t>KETCH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51760" y="4462272"/>
            <a:ext cx="73152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697480" y="45079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2F66"/>
                </a:solidFill>
                <a:latin typeface="微软雅黑"/>
              </a:rPr>
              <a:t>0.868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83280" y="4462272"/>
            <a:ext cx="265176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29000" y="45079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2F66"/>
                </a:solidFill>
                <a:latin typeface="微软雅黑"/>
              </a:rPr>
              <a:t>全面最优，统计显著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1005840"/>
            <a:ext cx="54864" cy="5303520"/>
          </a:xfrm>
          <a:prstGeom prst="rect">
            <a:avLst/>
          </a:prstGeom>
          <a:solidFill>
            <a:srgbClr val="B8D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0" y="10058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2F66"/>
                </a:solidFill>
                <a:latin typeface="微软雅黑"/>
              </a:rPr>
              <a:t>权重 w 敏感性分析（Table 6）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1463040"/>
            <a:ext cx="3108960" cy="347472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0" y="14630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配置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760" y="1463040"/>
            <a:ext cx="914400" cy="347472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509760" y="14630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1810512"/>
            <a:ext cx="3108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46520" y="18562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w=0.0（只用注意力）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09760" y="1810512"/>
            <a:ext cx="914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555480" y="185623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0.700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2340864"/>
            <a:ext cx="310896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46520" y="238658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w=0.3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09760" y="2340864"/>
            <a:ext cx="91440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555480" y="2386584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0.732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2871215"/>
            <a:ext cx="3108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46520" y="2916935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w=0.5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09760" y="2871215"/>
            <a:ext cx="914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555480" y="2916935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0.778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3401568"/>
            <a:ext cx="310896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46520" y="344728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2F66"/>
                </a:solidFill>
                <a:latin typeface="微软雅黑"/>
              </a:rPr>
              <a:t>w=0.6（最优）★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09760" y="3401568"/>
            <a:ext cx="91440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555480" y="3447288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2F66"/>
                </a:solidFill>
                <a:latin typeface="微软雅黑"/>
              </a:rPr>
              <a:t>0.868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0" y="3931920"/>
            <a:ext cx="3108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46520" y="3977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w=0.7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09760" y="3931920"/>
            <a:ext cx="914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555480" y="397764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0.830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0" y="4462272"/>
            <a:ext cx="310896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446520" y="450799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w=1.0（只用词典）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509760" y="4462272"/>
            <a:ext cx="91440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555480" y="450799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0.729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0" y="46634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微软雅黑"/>
              </a:rPr>
              <a:t>w=0.6 最优说明：词典知识贡献稍大
但上下文注意力不可缺少，两者联合最佳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47472"/>
            <a:ext cx="73152" cy="402336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658368"/>
            <a:ext cx="12115800" cy="54864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F66"/>
                </a:solidFill>
                <a:latin typeface="微软雅黑"/>
              </a:rPr>
              <a:t>跨平台 · 跨语言 · 跨任务泛化验证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2F66"/>
                </a:solidFill>
                <a:latin typeface="微软雅黑"/>
              </a:rPr>
              <a:t>任务 2：英文 Reddit 用户级风险预测（Table 9）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2103120" cy="347472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463040"/>
            <a:ext cx="777240" cy="347472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7440" y="146304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463040"/>
            <a:ext cx="777240" cy="347472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54680" y="146304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1463040"/>
            <a:ext cx="777240" cy="347472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31920" y="146304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1463040"/>
            <a:ext cx="777240" cy="347472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60" y="146304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Acc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810512"/>
            <a:ext cx="2103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8" y="1856232"/>
            <a:ext cx="20665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SDCNL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1810512"/>
            <a:ext cx="777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95728" y="1856232"/>
            <a:ext cx="740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0.804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1810512"/>
            <a:ext cx="777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72968" y="1856232"/>
            <a:ext cx="740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1.000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1810512"/>
            <a:ext cx="777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50208" y="1856232"/>
            <a:ext cx="740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0.826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1810512"/>
            <a:ext cx="777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27448" y="1856232"/>
            <a:ext cx="740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0.832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313432"/>
            <a:ext cx="210312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2608" y="2359152"/>
            <a:ext cx="20665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SISMO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40" y="2313432"/>
            <a:ext cx="77724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95728" y="2359152"/>
            <a:ext cx="740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0.902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80" y="2313432"/>
            <a:ext cx="77724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172968" y="2359152"/>
            <a:ext cx="740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0.774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0" y="2313432"/>
            <a:ext cx="77724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950208" y="2359152"/>
            <a:ext cx="740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0.816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09160" y="2313432"/>
            <a:ext cx="77724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27448" y="2359152"/>
            <a:ext cx="740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0.738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816352"/>
            <a:ext cx="2103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92608" y="2862072"/>
            <a:ext cx="20665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MentalRoBERTa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2816352"/>
            <a:ext cx="777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395728" y="2862072"/>
            <a:ext cx="740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0.869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680" y="2816352"/>
            <a:ext cx="777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172968" y="2862072"/>
            <a:ext cx="740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0.815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1920" y="2816352"/>
            <a:ext cx="777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950208" y="2862072"/>
            <a:ext cx="740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0.835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09160" y="2816352"/>
            <a:ext cx="777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727448" y="2862072"/>
            <a:ext cx="740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0.872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319272"/>
            <a:ext cx="2103120" cy="47548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92608" y="3364992"/>
            <a:ext cx="20665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2F66"/>
                </a:solidFill>
                <a:latin typeface="微软雅黑"/>
              </a:rPr>
              <a:t>KETCH 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3319272"/>
            <a:ext cx="777240" cy="47548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395728" y="3364992"/>
            <a:ext cx="740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2F66"/>
                </a:solidFill>
                <a:latin typeface="微软雅黑"/>
              </a:rPr>
              <a:t>0.923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54680" y="3319272"/>
            <a:ext cx="777240" cy="47548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172968" y="3364992"/>
            <a:ext cx="740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2F66"/>
                </a:solidFill>
                <a:latin typeface="微软雅黑"/>
              </a:rPr>
              <a:t>0.955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31920" y="3319272"/>
            <a:ext cx="777240" cy="47548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950208" y="3364992"/>
            <a:ext cx="740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2F66"/>
                </a:solidFill>
                <a:latin typeface="微软雅黑"/>
              </a:rPr>
              <a:t>0.939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09160" y="3319272"/>
            <a:ext cx="777240" cy="47548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727448" y="3364992"/>
            <a:ext cx="740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2F66"/>
                </a:solidFill>
                <a:latin typeface="微软雅黑"/>
              </a:rPr>
              <a:t>0.912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374903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06C00"/>
                </a:solidFill>
                <a:latin typeface="微软雅黑"/>
              </a:rPr>
              <a:t>KETCH F1=0.939，跨语言（英文）、跨平台（Reddit）验证成功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52160" y="1005840"/>
            <a:ext cx="54864" cy="5303520"/>
          </a:xfrm>
          <a:prstGeom prst="rect">
            <a:avLst/>
          </a:prstGeom>
          <a:solidFill>
            <a:srgbClr val="B8D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035040" y="100584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2F66"/>
                </a:solidFill>
                <a:latin typeface="微软雅黑"/>
              </a:rPr>
              <a:t>任务 3：迁移到抑郁检测任务（Table 11）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35040" y="1463040"/>
            <a:ext cx="3017520" cy="347472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035040" y="146304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52560" y="1463040"/>
            <a:ext cx="914400" cy="347472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052560" y="14630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Precision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966960" y="1463040"/>
            <a:ext cx="914400" cy="347472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966960" y="14630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Recall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881360" y="1463040"/>
            <a:ext cx="914400" cy="347472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881360" y="14630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35040" y="1810512"/>
            <a:ext cx="30175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062472" y="1883664"/>
            <a:ext cx="29626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MentalRoBERTa（fine-tune）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052560" y="1810512"/>
            <a:ext cx="914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079992" y="1883664"/>
            <a:ext cx="8595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1.000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66960" y="1810512"/>
            <a:ext cx="914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994392" y="1883664"/>
            <a:ext cx="8595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0.333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881360" y="1810512"/>
            <a:ext cx="914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0908792" y="1883664"/>
            <a:ext cx="8595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0.500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35040" y="2404872"/>
            <a:ext cx="3017520" cy="56692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062472" y="2478024"/>
            <a:ext cx="29626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2F66"/>
                </a:solidFill>
                <a:latin typeface="微软雅黑"/>
              </a:rPr>
              <a:t>KETCH with MentalRoBERTa ★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052560" y="2404872"/>
            <a:ext cx="914400" cy="56692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079992" y="2478024"/>
            <a:ext cx="8595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2F66"/>
                </a:solidFill>
                <a:latin typeface="微软雅黑"/>
              </a:rPr>
              <a:t>0.736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66960" y="2404872"/>
            <a:ext cx="914400" cy="56692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994392" y="2478024"/>
            <a:ext cx="8595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2F66"/>
                </a:solidFill>
                <a:latin typeface="微软雅黑"/>
              </a:rPr>
              <a:t>0.806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881360" y="2404872"/>
            <a:ext cx="914400" cy="56692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0908792" y="2478024"/>
            <a:ext cx="8595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2F66"/>
                </a:solidFill>
                <a:latin typeface="微软雅黑"/>
              </a:rPr>
              <a:t>0.765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35040" y="292608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微软雅黑"/>
              </a:rPr>
              <a:t>关键洞察：在公共健康场景，漏检（低Recall）代价远大于误报。
KETCH 将 Recall 从 0.333 提升到 0.806，实际意义更大。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4251960"/>
            <a:ext cx="1143000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274320" y="4251960"/>
            <a:ext cx="91440" cy="1463040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57200" y="4297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2F66"/>
                </a:solidFill>
                <a:latin typeface="微软雅黑"/>
              </a:rPr>
              <a:t>词典对比（Table 7）：人工专家构建 CSI &gt; GPT 自动生成 &gt; NRC 通用情感词典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7200" y="4736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微软雅黑"/>
              </a:rPr>
              <a:t>中文微博 F1：CSI=0.868  vs  GPT-CSI=0.832  vs  NRC=0.737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7200" y="51389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06C00"/>
                </a:solidFill>
                <a:latin typeface="微软雅黑"/>
              </a:rPr>
              <a:t>结论：高风险医疗场景下，专业人工知识仍优于大模型自动生成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16736"/>
            <a:ext cx="12188952" cy="4206240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23560" y="1993392"/>
            <a:ext cx="960120" cy="86868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23560" y="1993392"/>
            <a:ext cx="960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01752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/>
              </a:rPr>
              <a:t>应用与影响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0"/>
            <a:ext cx="12188952" cy="54864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Times New Roman"/>
              </a:rPr>
              <a:t>Application &amp; Impact: Field Study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47472"/>
            <a:ext cx="73152" cy="402336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658368"/>
            <a:ext cx="12115800" cy="54864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F66"/>
                </a:solidFill>
                <a:latin typeface="微软雅黑"/>
              </a:rPr>
              <a:t>田野研究：KETCH 驱动的主动干预可行性验证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920240" cy="128016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00584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KETCH 监控
微博新帖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1417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F66"/>
                </a:solidFill>
                <a:latin typeface="微软雅黑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39" y="1005840"/>
            <a:ext cx="1920240" cy="1280160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06039" y="100584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心理咨询师
人工复核
（准确率 86%）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7" y="1417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F66"/>
                </a:solidFill>
                <a:latin typeface="微软雅黑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59" y="1005840"/>
            <a:ext cx="1920240" cy="128016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59" y="100584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微博私信
主动触达用户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7" y="1417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F66"/>
                </a:solidFill>
                <a:latin typeface="微软雅黑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79" y="1005840"/>
            <a:ext cx="1920240" cy="128016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69479" y="100584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提供量表/咨询/
应急热线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8007" y="1417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F66"/>
                </a:solidFill>
                <a:latin typeface="微软雅黑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1005840"/>
            <a:ext cx="1920240" cy="128016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0" y="100584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满意度调查
与反馈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606040"/>
            <a:ext cx="356616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2606040"/>
            <a:ext cx="91440" cy="123444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67919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2F66"/>
                </a:solidFill>
                <a:latin typeface="微软雅黑"/>
              </a:rPr>
              <a:t>7,817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31927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微软雅黑"/>
              </a:rPr>
              <a:t>用户被触达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2606040"/>
            <a:ext cx="356616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06240" y="2606040"/>
            <a:ext cx="91440" cy="123444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89120" y="267919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2F66"/>
                </a:solidFill>
                <a:latin typeface="微软雅黑"/>
              </a:rPr>
              <a:t>2,086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31927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微软雅黑"/>
              </a:rPr>
              <a:t>回复干预前问卷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606040"/>
            <a:ext cx="356616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38160" y="2606040"/>
            <a:ext cx="91440" cy="123444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0" y="267919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2F66"/>
                </a:solidFill>
                <a:latin typeface="微软雅黑"/>
              </a:rPr>
              <a:t>2,001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31927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微软雅黑"/>
              </a:rPr>
              <a:t>回复咨询师消息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023360"/>
            <a:ext cx="356616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320" y="4023360"/>
            <a:ext cx="91440" cy="123444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09651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2F66"/>
                </a:solidFill>
                <a:latin typeface="微软雅黑"/>
              </a:rPr>
              <a:t>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73659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微软雅黑"/>
              </a:rPr>
              <a:t>参与一对一在线干预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4023360"/>
            <a:ext cx="356616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206240" y="4023360"/>
            <a:ext cx="91440" cy="123444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89120" y="409651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2F66"/>
                </a:solidFill>
                <a:latin typeface="微软雅黑"/>
              </a:rPr>
              <a:t>86%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73659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微软雅黑"/>
              </a:rPr>
              <a:t>人工复核准确率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4023360"/>
            <a:ext cx="356616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138160" y="4023360"/>
            <a:ext cx="91440" cy="123444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21040" y="409651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2F66"/>
                </a:solidFill>
                <a:latin typeface="微软雅黑"/>
              </a:rPr>
              <a:t>66%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73659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微软雅黑"/>
              </a:rPr>
              <a:t>此前未接受任何干预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5577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2F66"/>
                </a:solidFill>
                <a:latin typeface="微软雅黑"/>
              </a:rPr>
              <a:t>关键发现：66% 的用户此前从未接受过干预 —— KETCH 触达的是真正的「隐形高风险群体」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16736"/>
            <a:ext cx="12188952" cy="4206240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23560" y="1993392"/>
            <a:ext cx="960120" cy="86868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23560" y="1993392"/>
            <a:ext cx="960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01752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/>
              </a:rPr>
              <a:t>总结与展望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0"/>
            <a:ext cx="12188952" cy="54864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47472"/>
            <a:ext cx="73152" cy="402336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658368"/>
            <a:ext cx="12115800" cy="54864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F66"/>
                </a:solidFill>
                <a:latin typeface="微软雅黑"/>
              </a:rPr>
              <a:t>核心贡献与局限性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F66"/>
                </a:solidFill>
                <a:latin typeface="微软雅黑"/>
              </a:rPr>
              <a:t>核心贡献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384048" cy="475488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481328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502920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52704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微软雅黑"/>
              </a:rPr>
              <a:t>构建了面向社交媒体的自杀意念专用词典（CSI，320条）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139696"/>
            <a:ext cx="384048" cy="475488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2139696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139696"/>
            <a:ext cx="502920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185416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微软雅黑"/>
              </a:rPr>
              <a:t>提出模型级词典融合机制，优于传统特征拼接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798064"/>
            <a:ext cx="384048" cy="475488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2798064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98064"/>
            <a:ext cx="502920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284378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微软雅黑"/>
              </a:rPr>
              <a:t>对齐式动态嵌入 + 词典增强联合建模，自动权衡两类信息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456432"/>
            <a:ext cx="384048" cy="475488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" y="3456432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456432"/>
            <a:ext cx="502920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5021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微软雅黑"/>
              </a:rPr>
              <a:t>跨语言/跨平台/跨任务的全面实证验证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114800"/>
            <a:ext cx="384048" cy="475488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4114800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114800"/>
            <a:ext cx="502920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16052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微软雅黑"/>
              </a:rPr>
              <a:t>田野研究证明真实干预可行性（86% 准确率）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1005840"/>
            <a:ext cx="54864" cy="4572000"/>
          </a:xfrm>
          <a:prstGeom prst="rect">
            <a:avLst/>
          </a:prstGeom>
          <a:solidFill>
            <a:srgbClr val="B8D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5040" y="100584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F66"/>
                </a:solidFill>
                <a:latin typeface="微软雅黑"/>
              </a:rPr>
              <a:t>局限性与未来方向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481328"/>
            <a:ext cx="1371600" cy="548640"/>
          </a:xfrm>
          <a:prstGeom prst="rect">
            <a:avLst/>
          </a:prstGeom>
          <a:solidFill>
            <a:srgbClr val="B8D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35040" y="148132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2F66"/>
                </a:solidFill>
                <a:latin typeface="微软雅黑"/>
              </a:rPr>
              <a:t>仅文本模态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148132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微软雅黑"/>
              </a:rPr>
              <a:t>未来可融合图片、视频等多模态信息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212848"/>
            <a:ext cx="1371600" cy="548640"/>
          </a:xfrm>
          <a:prstGeom prst="rect">
            <a:avLst/>
          </a:prstGeom>
          <a:solidFill>
            <a:srgbClr val="B8D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35040" y="221284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2F66"/>
                </a:solidFill>
                <a:latin typeface="微软雅黑"/>
              </a:rPr>
              <a:t>词典需更新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221284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微软雅黑"/>
              </a:rPr>
              <a:t>社交媒体语言持续变化，需增量维护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2944368"/>
            <a:ext cx="1371600" cy="548640"/>
          </a:xfrm>
          <a:prstGeom prst="rect">
            <a:avLst/>
          </a:prstGeom>
          <a:solidFill>
            <a:srgbClr val="B8D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35040" y="294436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2F66"/>
                </a:solidFill>
                <a:latin typeface="微软雅黑"/>
              </a:rPr>
              <a:t>非 RCT 验证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294436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微软雅黑"/>
              </a:rPr>
              <a:t>田野研究无法做因果推断，未来需临床试验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3675888"/>
            <a:ext cx="1371600" cy="548640"/>
          </a:xfrm>
          <a:prstGeom prst="rect">
            <a:avLst/>
          </a:prstGeom>
          <a:solidFill>
            <a:srgbClr val="B8D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35040" y="367588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2F66"/>
                </a:solidFill>
                <a:latin typeface="微软雅黑"/>
              </a:rPr>
              <a:t>隐私与伦理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367588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微软雅黑"/>
              </a:rPr>
              <a:t>主动干预存在用户感知隐私风险，需持续关注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4407408"/>
            <a:ext cx="1371600" cy="548640"/>
          </a:xfrm>
          <a:prstGeom prst="rect">
            <a:avLst/>
          </a:prstGeom>
          <a:solidFill>
            <a:srgbClr val="B8D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35040" y="440740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2F66"/>
                </a:solidFill>
                <a:latin typeface="微软雅黑"/>
              </a:rPr>
              <a:t>数据局限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440740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微软雅黑"/>
              </a:rPr>
              <a:t>缺少时间戳，无法分析意念时间演化过程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577840"/>
            <a:ext cx="11430000" cy="713232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5669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本文最大贡献：将「知识增强」从特征拼接推进到模型级融合，为 IS 领域类似高风险任务提供可复用方法论框架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47472"/>
            <a:ext cx="73152" cy="402336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658368"/>
            <a:ext cx="12115800" cy="54864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F66"/>
                </a:solidFill>
                <a:latin typeface="微软雅黑"/>
              </a:rPr>
              <a:t>参考资源 &amp; GitHub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14300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91440" cy="1371600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2F66"/>
                </a:solidFill>
                <a:latin typeface="微软雅黑"/>
              </a:rPr>
              <a:t>原始论文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微软雅黑"/>
              </a:rPr>
              <a:t>Zhang, D., Zhou, L., Tao, J., Zhu, T., &amp; Gao, G. (2025). KETCH: A Knowledge-Enhanced
Transformer-Based Approach to Suicidal Ideation Detection from Social Media Content.
Information Systems Research, 36(1), 572-599. DOI: 10.1287/isre.2021.0619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5603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2F66"/>
                </a:solidFill>
                <a:latin typeface="微软雅黑"/>
              </a:rPr>
              <a:t>GitHub 代码仓库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17520"/>
            <a:ext cx="114300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3017520"/>
            <a:ext cx="91440" cy="118872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2F66"/>
                </a:solidFill>
                <a:latin typeface="微软雅黑"/>
              </a:rPr>
              <a:t>GitHub Repository（开源代码与词典）：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47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5CA8"/>
                </a:solidFill>
                <a:latin typeface="微软雅黑"/>
              </a:rPr>
              <a:t>https://github.com/ISR-KETCH/ketch-suicide-detection
（请在浏览器中搜索：KETCH suicidal ideation detection github）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3434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2F66"/>
                </a:solidFill>
                <a:latin typeface="微软雅黑"/>
              </a:rPr>
              <a:t>关联数据集与资源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微软雅黑"/>
              </a:rPr>
              <a:t>• CLPsych 2019 Shared Task (Reddit 英文数据)：https://clpsych.org/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846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微软雅黑"/>
              </a:rPr>
              <a:t>• 中文微博 SI 数据集（需申请）：联系原作者 dzhang@umbc.edu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6869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微软雅黑"/>
              </a:rPr>
              <a:t>• MentalRoBERTa：https://huggingface.co/mental/mental-roberta-base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527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微软雅黑"/>
              </a:rPr>
              <a:t>• SMOTE 实现：imbalanced-learn 库  |  TPOT 自动化 ML：http://epistasislab.github.io/tpot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0" y="6327648"/>
            <a:ext cx="12188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微软雅黑"/>
              </a:rPr>
              <a:t>感谢老师倾听</a:t>
            </a:r>
            <a:r>
              <a:rPr sz="2000" b="1" dirty="0">
                <a:solidFill>
                  <a:srgbClr val="FFFFFF"/>
                </a:solidFill>
                <a:latin typeface="微软雅黑"/>
              </a:rPr>
              <a:t> |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1137</Words>
  <Application>Microsoft Office PowerPoint</Application>
  <PresentationFormat>自定义</PresentationFormat>
  <Paragraphs>287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微软雅黑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T206120</cp:lastModifiedBy>
  <cp:revision>2</cp:revision>
  <dcterms:created xsi:type="dcterms:W3CDTF">2013-01-27T09:14:16Z</dcterms:created>
  <dcterms:modified xsi:type="dcterms:W3CDTF">2026-03-23T15:29:56Z</dcterms:modified>
  <cp:category/>
</cp:coreProperties>
</file>